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71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3" r:id="rId18"/>
    <p:sldId id="274" r:id="rId19"/>
    <p:sldId id="272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71589-39F1-4FA6-A5A5-3DC35B33D9CE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C9865-1DA7-424D-B2F2-6863625EF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4539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50000"/>
              </a:lnSpc>
              <a:defRPr sz="2800"/>
            </a:lvl1pPr>
            <a:lvl2pPr>
              <a:lnSpc>
                <a:spcPct val="150000"/>
              </a:lnSpc>
              <a:defRPr sz="2800"/>
            </a:lvl2pPr>
            <a:lvl3pPr>
              <a:lnSpc>
                <a:spcPct val="150000"/>
              </a:lnSpc>
              <a:defRPr sz="2400"/>
            </a:lvl3pPr>
            <a:lvl4pPr>
              <a:lnSpc>
                <a:spcPct val="150000"/>
              </a:lnSpc>
              <a:defRPr sz="2800"/>
            </a:lvl4pPr>
            <a:lvl5pPr>
              <a:lnSpc>
                <a:spcPct val="150000"/>
              </a:lnSpc>
              <a:defRPr sz="28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71589-39F1-4FA6-A5A5-3DC35B33D9CE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C9865-1DA7-424D-B2F2-6863625EF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821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71589-39F1-4FA6-A5A5-3DC35B33D9CE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C9865-1DA7-424D-B2F2-6863625EF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85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71589-39F1-4FA6-A5A5-3DC35B33D9CE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C9865-1DA7-424D-B2F2-6863625EF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061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71589-39F1-4FA6-A5A5-3DC35B33D9CE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C9865-1DA7-424D-B2F2-6863625EF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751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71589-39F1-4FA6-A5A5-3DC35B33D9CE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C9865-1DA7-424D-B2F2-6863625EF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400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71589-39F1-4FA6-A5A5-3DC35B33D9CE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C9865-1DA7-424D-B2F2-6863625EF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066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71589-39F1-4FA6-A5A5-3DC35B33D9CE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C9865-1DA7-424D-B2F2-6863625EF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160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71589-39F1-4FA6-A5A5-3DC35B33D9CE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C9865-1DA7-424D-B2F2-6863625EF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237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71589-39F1-4FA6-A5A5-3DC35B33D9CE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C9865-1DA7-424D-B2F2-6863625EF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691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71589-39F1-4FA6-A5A5-3DC35B33D9CE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C9865-1DA7-424D-B2F2-6863625EF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9816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C0E7C-3BA8-4645-84C2-CA5D53337461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0B2A-4680-4243-A694-792A1CBEE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527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C0E7C-3BA8-4645-84C2-CA5D53337461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0B2A-4680-4243-A694-792A1CBEE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5392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C0E7C-3BA8-4645-84C2-CA5D53337461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0B2A-4680-4243-A694-792A1CBEE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7600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C0E7C-3BA8-4645-84C2-CA5D53337461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0B2A-4680-4243-A694-792A1CBEE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907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C0E7C-3BA8-4645-84C2-CA5D53337461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0B2A-4680-4243-A694-792A1CBEE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2619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C0E7C-3BA8-4645-84C2-CA5D53337461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0B2A-4680-4243-A694-792A1CBEE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5442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C0E7C-3BA8-4645-84C2-CA5D53337461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0B2A-4680-4243-A694-792A1CBEE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3480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C0E7C-3BA8-4645-84C2-CA5D53337461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0B2A-4680-4243-A694-792A1CBEE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1744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C0E7C-3BA8-4645-84C2-CA5D53337461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0B2A-4680-4243-A694-792A1CBEE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5834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C0E7C-3BA8-4645-84C2-CA5D53337461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0B2A-4680-4243-A694-792A1CBEE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6876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C0E7C-3BA8-4645-84C2-CA5D53337461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0B2A-4680-4243-A694-792A1CBEE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860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D71589-39F1-4FA6-A5A5-3DC35B33D9CE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C9865-1DA7-424D-B2F2-6863625EF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420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150000"/>
        </a:lnSpc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50000"/>
        </a:lnSpc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49000">
              <a:srgbClr val="99A8CD"/>
            </a:gs>
            <a:gs pos="0">
              <a:schemeClr val="bg2">
                <a:tint val="40000"/>
                <a:satMod val="350000"/>
              </a:schemeClr>
            </a:gs>
            <a:gs pos="40000">
              <a:schemeClr val="bg2">
                <a:tint val="45000"/>
                <a:shade val="99000"/>
                <a:satMod val="350000"/>
              </a:schemeClr>
            </a:gs>
            <a:gs pos="100000">
              <a:schemeClr val="bg2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DC0E7C-3BA8-4645-84C2-CA5D53337461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0B2A-4680-4243-A694-792A1CBEE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956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nUxmvzjtOw0?si=CmQoMmASApAKe_VC" TargetMode="External"/><Relationship Id="rId2" Type="http://schemas.openxmlformats.org/officeDocument/2006/relationships/hyperlink" Target="https://github.com/allanmuyombyabcs132/DATABASE-STAFF-MANAGEMENT.git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2400"/>
            <a:ext cx="7772400" cy="1470025"/>
          </a:xfrm>
        </p:spPr>
        <p:txBody>
          <a:bodyPr>
            <a:normAutofit/>
          </a:bodyPr>
          <a:lstStyle/>
          <a:p>
            <a:r>
              <a:rPr lang="en-US" dirty="0" smtClean="0"/>
              <a:t>Salon management System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524000"/>
            <a:ext cx="8382000" cy="5105400"/>
          </a:xfrm>
        </p:spPr>
        <p:txBody>
          <a:bodyPr>
            <a:normAutofit/>
          </a:bodyPr>
          <a:lstStyle/>
          <a:p>
            <a:r>
              <a:rPr lang="en-US" b="1" dirty="0"/>
              <a:t>Subtitle: </a:t>
            </a:r>
            <a:r>
              <a:rPr lang="en-US" b="1" dirty="0" smtClean="0"/>
              <a:t>Staff management module.</a:t>
            </a:r>
            <a:endParaRPr lang="en-US" b="1" dirty="0"/>
          </a:p>
          <a:p>
            <a:r>
              <a:rPr lang="en-US" b="1" dirty="0" smtClean="0"/>
              <a:t>Presented </a:t>
            </a:r>
            <a:r>
              <a:rPr lang="en-US" b="1" dirty="0"/>
              <a:t>by: </a:t>
            </a:r>
            <a:r>
              <a:rPr lang="en-US" b="1" dirty="0" smtClean="0"/>
              <a:t>MUYOMBYA ALLAN </a:t>
            </a:r>
            <a:r>
              <a:rPr lang="en-US" b="1" dirty="0"/>
              <a:t>Number: 2025/BCS/132/PS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>University: Mbarara University of Science and Technology (MUST)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>Department: 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264951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Application Domain &amp; Business Case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Domain:</a:t>
            </a:r>
            <a:r>
              <a:rPr lang="en-US" dirty="0"/>
              <a:t> </a:t>
            </a:r>
            <a:r>
              <a:rPr lang="en-US" dirty="0" smtClean="0"/>
              <a:t>The Professional </a:t>
            </a:r>
            <a:r>
              <a:rPr lang="en-US" dirty="0" smtClean="0"/>
              <a:t>Beauty Salon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b="1" dirty="0"/>
              <a:t>The Problem:</a:t>
            </a:r>
            <a:r>
              <a:rPr lang="en-US" dirty="0"/>
              <a:t> Traditional paper-based systems lead to scheduling conflicts, inaccurate commission tracking, and a lack of performance data.</a:t>
            </a:r>
          </a:p>
          <a:p>
            <a:r>
              <a:rPr lang="en-US" b="1" dirty="0"/>
              <a:t>The Solution:</a:t>
            </a:r>
            <a:r>
              <a:rPr lang="en-US" dirty="0"/>
              <a:t> A centralized relational database that tracks the full lifecycle of salon staff.</a:t>
            </a:r>
          </a:p>
          <a:p>
            <a:r>
              <a:rPr lang="en-US" b="1" dirty="0"/>
              <a:t>Why it Matters:</a:t>
            </a:r>
            <a:r>
              <a:rPr lang="en-US" dirty="0"/>
              <a:t> To improve operational efficiency and ensure data-driven decision-making for salon owners.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639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System Requirements &amp; User Groups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 numCol="1">
            <a:normAutofit fontScale="40000" lnSpcReduction="20000"/>
          </a:bodyPr>
          <a:lstStyle/>
          <a:p>
            <a:pPr>
              <a:lnSpc>
                <a:spcPct val="170000"/>
              </a:lnSpc>
            </a:pPr>
            <a:r>
              <a:rPr lang="en-US" sz="5000" b="1" dirty="0"/>
              <a:t>Key Requirements:</a:t>
            </a:r>
            <a:endParaRPr lang="en-US" sz="5000" dirty="0"/>
          </a:p>
          <a:p>
            <a:pPr lvl="1">
              <a:lnSpc>
                <a:spcPct val="170000"/>
              </a:lnSpc>
            </a:pPr>
            <a:r>
              <a:rPr lang="en-US" sz="5000" dirty="0"/>
              <a:t>Personnel and Role management.</a:t>
            </a:r>
          </a:p>
          <a:p>
            <a:pPr lvl="1">
              <a:lnSpc>
                <a:spcPct val="170000"/>
              </a:lnSpc>
            </a:pPr>
            <a:r>
              <a:rPr lang="en-US" sz="5000" dirty="0"/>
              <a:t>Conflict-free shift scheduling.</a:t>
            </a:r>
          </a:p>
          <a:p>
            <a:pPr lvl="1">
              <a:lnSpc>
                <a:spcPct val="170000"/>
              </a:lnSpc>
            </a:pPr>
            <a:r>
              <a:rPr lang="en-US" sz="5000" dirty="0"/>
              <a:t>Skill certification tracking.</a:t>
            </a:r>
          </a:p>
          <a:p>
            <a:pPr lvl="1">
              <a:lnSpc>
                <a:spcPct val="170000"/>
              </a:lnSpc>
            </a:pPr>
            <a:r>
              <a:rPr lang="en-US" sz="5000" dirty="0"/>
              <a:t>Daily attendance and leave management</a:t>
            </a:r>
            <a:r>
              <a:rPr lang="en-US" sz="5000" dirty="0" smtClean="0"/>
              <a:t>.</a:t>
            </a:r>
          </a:p>
          <a:p>
            <a:pPr>
              <a:lnSpc>
                <a:spcPct val="170000"/>
              </a:lnSpc>
            </a:pPr>
            <a:r>
              <a:rPr lang="en-US" sz="5000" dirty="0" smtClean="0"/>
              <a:t/>
            </a:r>
            <a:br>
              <a:rPr lang="en-US" sz="5000" dirty="0" smtClean="0"/>
            </a:b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40000" lnSpcReduction="20000"/>
          </a:bodyPr>
          <a:lstStyle/>
          <a:p>
            <a:pPr>
              <a:lnSpc>
                <a:spcPct val="170000"/>
              </a:lnSpc>
            </a:pPr>
            <a:r>
              <a:rPr lang="en-US" sz="5000" b="1" dirty="0" smtClean="0"/>
              <a:t>User Groups:</a:t>
            </a:r>
            <a:endParaRPr lang="en-US" sz="5000" dirty="0" smtClean="0"/>
          </a:p>
          <a:p>
            <a:pPr lvl="1">
              <a:lnSpc>
                <a:spcPct val="170000"/>
              </a:lnSpc>
            </a:pPr>
            <a:r>
              <a:rPr lang="en-US" sz="5000" b="1" dirty="0" smtClean="0"/>
              <a:t>Administrator/Owner:</a:t>
            </a:r>
            <a:r>
              <a:rPr lang="en-US" sz="5000" dirty="0" smtClean="0"/>
              <a:t> Payroll and performance oversight.</a:t>
            </a:r>
          </a:p>
          <a:p>
            <a:pPr lvl="1">
              <a:lnSpc>
                <a:spcPct val="170000"/>
              </a:lnSpc>
            </a:pPr>
            <a:r>
              <a:rPr lang="en-US" sz="5000" b="1" dirty="0" smtClean="0"/>
              <a:t>Receptionist:</a:t>
            </a:r>
            <a:r>
              <a:rPr lang="en-US" sz="5000" dirty="0" smtClean="0"/>
              <a:t> Real-time scheduling and customer-to-stylist matching.</a:t>
            </a:r>
          </a:p>
          <a:p>
            <a:pPr lvl="1">
              <a:lnSpc>
                <a:spcPct val="170000"/>
              </a:lnSpc>
            </a:pPr>
            <a:r>
              <a:rPr lang="en-US" sz="5000" b="1" dirty="0" smtClean="0"/>
              <a:t>Stylists/Staff:</a:t>
            </a:r>
            <a:r>
              <a:rPr lang="en-US" sz="5000" dirty="0" smtClean="0"/>
              <a:t> Viewing work rosters and tracking earnings.</a:t>
            </a:r>
          </a:p>
          <a:p>
            <a:pPr marL="0" indent="0"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7446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Analysis of Benefits &amp; Costs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Analysis of Benefits &amp; Costs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38600" cy="216852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80% reduction in manual payroll processing time.</a:t>
            </a:r>
          </a:p>
          <a:p>
            <a:r>
              <a:rPr lang="en-US" dirty="0"/>
              <a:t>Elimination of financial overpayments due to human error.</a:t>
            </a:r>
          </a:p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4400" y="1066800"/>
            <a:ext cx="4041775" cy="63976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Intangible Benefits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209232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Increased staff accountability and transparency.</a:t>
            </a:r>
          </a:p>
          <a:p>
            <a:r>
              <a:rPr lang="en-US" dirty="0"/>
              <a:t>Professionalized business image.</a:t>
            </a:r>
          </a:p>
          <a:p>
            <a:endParaRPr lang="en-US" dirty="0"/>
          </a:p>
        </p:txBody>
      </p:sp>
      <p:sp>
        <p:nvSpPr>
          <p:cNvPr id="8" name="Content Placeholder 3"/>
          <p:cNvSpPr txBox="1">
            <a:spLocks/>
          </p:cNvSpPr>
          <p:nvPr/>
        </p:nvSpPr>
        <p:spPr>
          <a:xfrm>
            <a:off x="609600" y="4518454"/>
            <a:ext cx="7848600" cy="2168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smtClean="0"/>
              <a:t>                                               Costs</a:t>
            </a:r>
            <a:endParaRPr lang="en-US" dirty="0"/>
          </a:p>
          <a:p>
            <a:pPr lvl="1"/>
            <a:r>
              <a:rPr lang="en-US" dirty="0"/>
              <a:t>Low overhead due to open-source software (XAMPP/MySQL).</a:t>
            </a:r>
          </a:p>
          <a:p>
            <a:pPr lvl="1"/>
            <a:r>
              <a:rPr lang="en-US" dirty="0"/>
              <a:t>Minimal training and maintenance </a:t>
            </a:r>
            <a:r>
              <a:rPr lang="en-US" dirty="0" smtClean="0"/>
              <a:t>costs.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924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Logical Design 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486400"/>
          </a:xfrm>
        </p:spPr>
        <p:txBody>
          <a:bodyPr>
            <a:normAutofit fontScale="92500"/>
          </a:bodyPr>
          <a:lstStyle/>
          <a:p>
            <a:r>
              <a:rPr lang="en-US" b="1" noProof="1" smtClean="0"/>
              <a:t>Roles:</a:t>
            </a:r>
            <a:r>
              <a:rPr lang="en-US" noProof="1" smtClean="0"/>
              <a:t> Salary and commission definitions.</a:t>
            </a:r>
          </a:p>
          <a:p>
            <a:r>
              <a:rPr lang="en-US" b="1" noProof="1" smtClean="0"/>
              <a:t>Staff:</a:t>
            </a:r>
            <a:r>
              <a:rPr lang="en-US" noProof="1" smtClean="0"/>
              <a:t> Core personnel data.</a:t>
            </a:r>
          </a:p>
          <a:p>
            <a:r>
              <a:rPr lang="en-US" b="1" noProof="1" smtClean="0"/>
              <a:t>Shifts:</a:t>
            </a:r>
            <a:r>
              <a:rPr lang="en-US" noProof="1" smtClean="0"/>
              <a:t> Master time blocks.</a:t>
            </a:r>
          </a:p>
          <a:p>
            <a:r>
              <a:rPr lang="en-US" b="1" noProof="1" smtClean="0"/>
              <a:t>Staff_Schedules:</a:t>
            </a:r>
            <a:r>
              <a:rPr lang="en-US" noProof="1" smtClean="0"/>
              <a:t> The daily work roster.</a:t>
            </a:r>
          </a:p>
          <a:p>
            <a:r>
              <a:rPr lang="en-US" b="1" noProof="1" smtClean="0"/>
              <a:t>Skills:</a:t>
            </a:r>
            <a:r>
              <a:rPr lang="en-US" noProof="1" smtClean="0"/>
              <a:t> Service capabilities directory.</a:t>
            </a:r>
          </a:p>
          <a:p>
            <a:r>
              <a:rPr lang="en-US" b="1" noProof="1" smtClean="0"/>
              <a:t>Staff_Skills:</a:t>
            </a:r>
            <a:r>
              <a:rPr lang="en-US" noProof="1" smtClean="0"/>
              <a:t> Certification bridge table (Many-to-Many).</a:t>
            </a:r>
          </a:p>
          <a:p>
            <a:r>
              <a:rPr lang="en-US" b="1" noProof="1" smtClean="0"/>
              <a:t>Attendance:</a:t>
            </a:r>
            <a:r>
              <a:rPr lang="en-US" noProof="1" smtClean="0"/>
              <a:t> Daily clock-in/out performance logs.</a:t>
            </a:r>
          </a:p>
          <a:p>
            <a:r>
              <a:rPr lang="en-US" b="1" noProof="1" smtClean="0"/>
              <a:t>Leave_Requests:</a:t>
            </a:r>
            <a:r>
              <a:rPr lang="en-US" noProof="1" smtClean="0"/>
              <a:t> Absence management.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1587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Entity Relationship Diagram (ERD)</a:t>
            </a:r>
            <a:br>
              <a:rPr lang="en-US" b="1" dirty="0"/>
            </a:br>
            <a:endParaRPr lang="en-US" dirty="0"/>
          </a:p>
        </p:txBody>
      </p:sp>
      <p:pic>
        <p:nvPicPr>
          <p:cNvPr id="4" name="Content Placeholder 3" descr="C:\Users\User\Downloads\Blank diagram (1)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295401"/>
            <a:ext cx="8229600" cy="5181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2864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Entity Relationship Diagram (ERD</a:t>
            </a:r>
            <a:r>
              <a:rPr lang="en-US" b="1" dirty="0" smtClean="0"/>
              <a:t>) 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867400"/>
          </a:xfrm>
        </p:spPr>
        <p:txBody>
          <a:bodyPr>
            <a:normAutofit/>
          </a:bodyPr>
          <a:lstStyle/>
          <a:p>
            <a:r>
              <a:rPr lang="en-US" b="1" dirty="0"/>
              <a:t>Total Entities:</a:t>
            </a:r>
            <a:r>
              <a:rPr lang="en-US" dirty="0"/>
              <a:t> 8 Relational Tables.</a:t>
            </a:r>
          </a:p>
          <a:p>
            <a:r>
              <a:rPr lang="en-US" b="1" dirty="0"/>
              <a:t>Database Normalization:</a:t>
            </a:r>
            <a:r>
              <a:rPr lang="en-US" dirty="0"/>
              <a:t> Designed in 3rd Normal Form (3NF) to prevent data redundancy.</a:t>
            </a:r>
          </a:p>
          <a:p>
            <a:r>
              <a:rPr lang="en-US" b="1" dirty="0"/>
              <a:t>Notation Style:</a:t>
            </a:r>
            <a:r>
              <a:rPr lang="en-US" dirty="0"/>
              <a:t> Standard Crow’s Foot Notation used for visual clarity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237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Entity Relationship Diagram (ERD</a:t>
            </a:r>
            <a:r>
              <a:rPr lang="en-US" b="1" dirty="0" smtClean="0"/>
              <a:t>) 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867400"/>
          </a:xfrm>
        </p:spPr>
        <p:txBody>
          <a:bodyPr>
            <a:normAutofit/>
          </a:bodyPr>
          <a:lstStyle/>
          <a:p>
            <a:r>
              <a:rPr lang="en-US" b="1" smtClean="0"/>
              <a:t>Referential </a:t>
            </a:r>
            <a:r>
              <a:rPr lang="en-US" b="1" dirty="0"/>
              <a:t>Integrity:</a:t>
            </a:r>
            <a:r>
              <a:rPr lang="en-US" dirty="0"/>
              <a:t> Enforced via Mandatory </a:t>
            </a:r>
            <a:r>
              <a:rPr lang="en-US" dirty="0" smtClean="0"/>
              <a:t>Multiplicities.</a:t>
            </a:r>
            <a:endParaRPr lang="en-US" dirty="0"/>
          </a:p>
          <a:p>
            <a:r>
              <a:rPr lang="en-US" b="1" dirty="0"/>
              <a:t>Core Hub:</a:t>
            </a:r>
            <a:r>
              <a:rPr lang="en-US" dirty="0"/>
              <a:t> The STAFF table acts as the central link for all </a:t>
            </a:r>
            <a:r>
              <a:rPr lang="en-US" dirty="0" smtClean="0"/>
              <a:t>tables </a:t>
            </a:r>
            <a:r>
              <a:rPr lang="en-US" dirty="0"/>
              <a:t>(Scheduling, Skills, and Performance).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237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 Key Relationship &amp; Business Logic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Scheduling Logic:</a:t>
            </a:r>
            <a:r>
              <a:rPr lang="en-US" dirty="0"/>
              <a:t> A Many-to-Many relationship between STAFF and SHIFTS is resolved via the STAFF_SCHEDULES bridge table.</a:t>
            </a:r>
          </a:p>
          <a:p>
            <a:r>
              <a:rPr lang="en-US" b="1" dirty="0"/>
              <a:t>Competency Matrix:</a:t>
            </a:r>
            <a:r>
              <a:rPr lang="en-US" dirty="0"/>
              <a:t> STAFF_SKILLS allows the salon to track multiple certifications for a single stylist.</a:t>
            </a:r>
          </a:p>
          <a:p>
            <a:r>
              <a:rPr lang="en-US" b="1" dirty="0"/>
              <a:t>Performance Monitoring:</a:t>
            </a:r>
            <a:r>
              <a:rPr lang="en-US" dirty="0"/>
              <a:t> One-to-Many relationships link STAFF to ATTENDANCE for daily punctuality tracking.</a:t>
            </a:r>
          </a:p>
          <a:p>
            <a:r>
              <a:rPr lang="en-US" b="1" dirty="0"/>
              <a:t>HR Management:</a:t>
            </a:r>
            <a:r>
              <a:rPr lang="en-US" dirty="0"/>
              <a:t> LEAVE_REQUESTS table ensures conflict-free absence management.</a:t>
            </a:r>
          </a:p>
          <a:p>
            <a:r>
              <a:rPr lang="en-US" b="1" dirty="0"/>
              <a:t>Financial Standardization:</a:t>
            </a:r>
            <a:r>
              <a:rPr lang="en-US" dirty="0"/>
              <a:t> ROLES table ensures fixed salary and commission rates across all employee tiers.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5678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 </a:t>
            </a:r>
            <a:r>
              <a:rPr lang="en-US" b="1" dirty="0" smtClean="0"/>
              <a:t>Implementation </a:t>
            </a:r>
            <a:r>
              <a:rPr lang="en-US" b="1" dirty="0"/>
              <a:t>(XAMPP &amp; MySQL)</a:t>
            </a:r>
            <a:br>
              <a:rPr lang="en-US" b="1" dirty="0"/>
            </a:br>
            <a:r>
              <a:rPr lang="en-US" b="1" dirty="0" smtClean="0"/>
              <a:t>Shell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0"/>
            <a:ext cx="4912920" cy="5257800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2201" y="1524000"/>
            <a:ext cx="4251799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764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Implementation 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70000"/>
              </a:lnSpc>
            </a:pPr>
            <a:r>
              <a:rPr lang="en-US" b="1" dirty="0"/>
              <a:t>Phy</a:t>
            </a:r>
            <a:r>
              <a:rPr lang="en-US" sz="2300" b="1" dirty="0"/>
              <a:t>sical Schema Realization:</a:t>
            </a:r>
            <a:r>
              <a:rPr lang="en-US" sz="2300" dirty="0"/>
              <a:t> Direct transformation of the 8-table logical ERD into </a:t>
            </a:r>
            <a:r>
              <a:rPr lang="en-US" sz="2300" dirty="0" smtClean="0"/>
              <a:t>mysql.</a:t>
            </a:r>
            <a:endParaRPr lang="en-US" sz="2300" dirty="0"/>
          </a:p>
          <a:p>
            <a:pPr>
              <a:lnSpc>
                <a:spcPct val="170000"/>
              </a:lnSpc>
            </a:pPr>
            <a:r>
              <a:rPr lang="en-US" sz="2300" b="1" dirty="0" smtClean="0"/>
              <a:t>Metadata </a:t>
            </a:r>
            <a:r>
              <a:rPr lang="en-US" sz="2300" b="1" dirty="0"/>
              <a:t>Definition:</a:t>
            </a:r>
            <a:r>
              <a:rPr lang="en-US" sz="2300" dirty="0"/>
              <a:t> </a:t>
            </a:r>
            <a:r>
              <a:rPr lang="en-US" sz="2300" dirty="0" smtClean="0"/>
              <a:t>use </a:t>
            </a:r>
            <a:r>
              <a:rPr lang="en-US" sz="2300" dirty="0"/>
              <a:t>of data types (</a:t>
            </a:r>
            <a:r>
              <a:rPr lang="en-US" sz="2300" b="1" dirty="0"/>
              <a:t>INT, VARCHAR, DECIMAL, TIME, DATE</a:t>
            </a:r>
            <a:r>
              <a:rPr lang="en-US" sz="2300" dirty="0"/>
              <a:t>) to optimize storage and data accuracy.</a:t>
            </a:r>
          </a:p>
          <a:p>
            <a:pPr>
              <a:lnSpc>
                <a:spcPct val="170000"/>
              </a:lnSpc>
            </a:pPr>
            <a:r>
              <a:rPr lang="en-US" sz="2300" b="1" dirty="0" smtClean="0"/>
              <a:t>Relational </a:t>
            </a:r>
            <a:r>
              <a:rPr lang="en-US" sz="2300" b="1" dirty="0"/>
              <a:t>Integrity:</a:t>
            </a:r>
            <a:r>
              <a:rPr lang="en-US" sz="2300" dirty="0"/>
              <a:t> Use of </a:t>
            </a:r>
            <a:r>
              <a:rPr lang="en-US" sz="2300" b="1" dirty="0"/>
              <a:t>Primary Keys (PRI)</a:t>
            </a:r>
            <a:r>
              <a:rPr lang="en-US" sz="2300" dirty="0"/>
              <a:t> for unique indexing and </a:t>
            </a:r>
            <a:r>
              <a:rPr lang="en-US" sz="2300" b="1" dirty="0"/>
              <a:t>Foreign Keys (MUL)</a:t>
            </a:r>
            <a:r>
              <a:rPr lang="en-US" sz="2300" dirty="0"/>
              <a:t> for mandatory cross-table linkages</a:t>
            </a:r>
            <a:r>
              <a:rPr lang="en-US" sz="2300" dirty="0" smtClean="0"/>
              <a:t>.</a:t>
            </a:r>
            <a:endParaRPr lang="en-US" sz="2300" dirty="0"/>
          </a:p>
          <a:p>
            <a:pPr>
              <a:lnSpc>
                <a:spcPct val="170000"/>
              </a:lnSpc>
            </a:pPr>
            <a:r>
              <a:rPr lang="en-US" sz="2300" b="1" dirty="0"/>
              <a:t>Integrity Constraints:</a:t>
            </a:r>
            <a:r>
              <a:rPr lang="en-US" sz="2300" dirty="0"/>
              <a:t> Use of </a:t>
            </a:r>
            <a:r>
              <a:rPr lang="en-US" sz="2300" b="1" dirty="0"/>
              <a:t>UNIQUE</a:t>
            </a:r>
            <a:r>
              <a:rPr lang="en-US" sz="2300" dirty="0"/>
              <a:t> indexing on email fields and </a:t>
            </a:r>
            <a:r>
              <a:rPr lang="en-US" sz="2300" b="1" dirty="0"/>
              <a:t>NOT NULL</a:t>
            </a:r>
            <a:r>
              <a:rPr lang="en-US" sz="2300" dirty="0"/>
              <a:t> requirements to ensure data completeness and prevent redundancy.</a:t>
            </a:r>
          </a:p>
          <a:p>
            <a:pPr marL="0" indent="0">
              <a:lnSpc>
                <a:spcPct val="170000"/>
              </a:lnSpc>
              <a:buNone/>
            </a:pP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630351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Tables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0200"/>
            <a:ext cx="9144000" cy="5257800"/>
          </a:xfrm>
        </p:spPr>
      </p:pic>
    </p:spTree>
    <p:extLst>
      <p:ext uri="{BB962C8B-B14F-4D97-AF65-F5344CB8AC3E}">
        <p14:creationId xmlns:p14="http://schemas.microsoft.com/office/powerpoint/2010/main" val="1907996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 System Queries &amp; Business Intelligence</a:t>
            </a:r>
            <a:br>
              <a:rPr lang="en-US" b="1" dirty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95400"/>
            <a:ext cx="9144000" cy="5562600"/>
          </a:xfrm>
        </p:spPr>
      </p:pic>
    </p:spTree>
    <p:extLst>
      <p:ext uri="{BB962C8B-B14F-4D97-AF65-F5344CB8AC3E}">
        <p14:creationId xmlns:p14="http://schemas.microsoft.com/office/powerpoint/2010/main" val="4277648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Technical Highlights of the Queries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lnSpcReduction="10000"/>
          </a:bodyPr>
          <a:lstStyle/>
          <a:p>
            <a:r>
              <a:rPr lang="en-US" b="1" noProof="1" smtClean="0"/>
              <a:t>Query 1:</a:t>
            </a:r>
            <a:r>
              <a:rPr lang="en-US" noProof="1" smtClean="0"/>
              <a:t>Using relational JOINs between Attendance and Staff to monitor punctuality of late coming.</a:t>
            </a:r>
          </a:p>
          <a:p>
            <a:r>
              <a:rPr lang="en-US" b="1" noProof="1" smtClean="0"/>
              <a:t>Query 2:</a:t>
            </a:r>
            <a:r>
              <a:rPr lang="en-US" noProof="1" smtClean="0"/>
              <a:t> Utilizing a </a:t>
            </a:r>
            <a:r>
              <a:rPr lang="en-US" b="1" noProof="1" smtClean="0"/>
              <a:t>3-Table JOIN</a:t>
            </a:r>
            <a:r>
              <a:rPr lang="en-US" noProof="1" smtClean="0"/>
              <a:t> (Staff, Staff_Skills, Skills) to resolve many-to-many relationships for specialized service booking ie Dreadlocking skill.</a:t>
            </a:r>
          </a:p>
          <a:p>
            <a:r>
              <a:rPr lang="en-US" b="1" noProof="1" smtClean="0"/>
              <a:t>Query 3:</a:t>
            </a:r>
            <a:r>
              <a:rPr lang="en-US" noProof="1" smtClean="0"/>
              <a:t> Implementing GROUP BY and aggregate functions  to generate real-time payroll forecasts.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744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Comparable System Analysis &amp; Limitations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b="1" dirty="0"/>
              <a:t>Benchmarking:</a:t>
            </a:r>
            <a:r>
              <a:rPr lang="en-US" sz="2000" dirty="0"/>
              <a:t> </a:t>
            </a:r>
            <a:r>
              <a:rPr lang="en-US" sz="2000" dirty="0" smtClean="0"/>
              <a:t>I have studied </a:t>
            </a:r>
            <a:r>
              <a:rPr lang="en-US" sz="2000" dirty="0"/>
              <a:t>real-world systems like </a:t>
            </a:r>
            <a:r>
              <a:rPr lang="en-US" sz="2000" b="1" dirty="0"/>
              <a:t>Fresha</a:t>
            </a:r>
            <a:r>
              <a:rPr lang="en-US" sz="2000" dirty="0"/>
              <a:t> and </a:t>
            </a:r>
            <a:r>
              <a:rPr lang="en-US" sz="2000" b="1" dirty="0"/>
              <a:t>Squire</a:t>
            </a:r>
            <a:r>
              <a:rPr lang="en-US" sz="2000" dirty="0"/>
              <a:t>.</a:t>
            </a:r>
          </a:p>
          <a:p>
            <a:r>
              <a:rPr lang="en-US" sz="2000" b="1" dirty="0"/>
              <a:t>Key Learning:</a:t>
            </a:r>
            <a:r>
              <a:rPr lang="en-US" sz="2000" dirty="0"/>
              <a:t> Learned the importance of Competency-Based </a:t>
            </a:r>
            <a:r>
              <a:rPr lang="en-US" sz="2000" dirty="0" smtClean="0"/>
              <a:t>Scheduling</a:t>
            </a:r>
            <a:r>
              <a:rPr lang="en-US" sz="2000" dirty="0"/>
              <a:t> </a:t>
            </a:r>
            <a:r>
              <a:rPr lang="en-US" sz="2000" dirty="0" smtClean="0"/>
              <a:t>like linking </a:t>
            </a:r>
            <a:r>
              <a:rPr lang="en-US" sz="2000" dirty="0"/>
              <a:t>specific skills to staff profiles to avoid booking errors.</a:t>
            </a:r>
          </a:p>
          <a:p>
            <a:r>
              <a:rPr lang="en-US" sz="2000" b="1" dirty="0"/>
              <a:t>System Limitations:</a:t>
            </a:r>
            <a:endParaRPr lang="en-US" sz="2000" dirty="0"/>
          </a:p>
          <a:p>
            <a:pPr lvl="1"/>
            <a:r>
              <a:rPr lang="en-US" sz="2000" dirty="0"/>
              <a:t>Currently lacks automatic PAYE (Tax) and NSSF calculations.</a:t>
            </a:r>
          </a:p>
          <a:p>
            <a:pPr lvl="1"/>
            <a:r>
              <a:rPr lang="en-US" sz="2000" dirty="0"/>
              <a:t>No integrated Mobile Money API for automated salary disbursement.</a:t>
            </a:r>
          </a:p>
          <a:p>
            <a:pPr lvl="1"/>
            <a:r>
              <a:rPr lang="en-US" sz="2000" dirty="0"/>
              <a:t>Leave approvals are still a manual administrative task within the database.</a:t>
            </a:r>
          </a:p>
          <a:p>
            <a:r>
              <a:rPr lang="en-US" sz="2000" b="1" dirty="0"/>
              <a:t>Future Scope:</a:t>
            </a:r>
            <a:r>
              <a:rPr lang="en-US" sz="2000" dirty="0"/>
              <a:t> Implementation of a "Point of Sale" (POS) module to link staff performance directly to sales revenue.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61518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 &amp; Bibliography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/>
          </a:bodyPr>
          <a:lstStyle/>
          <a:p>
            <a:pPr marL="0">
              <a:lnSpc>
                <a:spcPct val="170000"/>
              </a:lnSpc>
            </a:pPr>
            <a:r>
              <a:rPr lang="en-US" b="1" dirty="0"/>
              <a:t>Key References:</a:t>
            </a:r>
            <a:endParaRPr lang="en-US" dirty="0"/>
          </a:p>
          <a:p>
            <a:pPr marL="0" lvl="1">
              <a:lnSpc>
                <a:spcPct val="170000"/>
              </a:lnSpc>
            </a:pPr>
            <a:r>
              <a:rPr lang="en-US" b="1" dirty="0" err="1"/>
              <a:t>Elmasri</a:t>
            </a:r>
            <a:r>
              <a:rPr lang="en-US" b="1" dirty="0"/>
              <a:t> &amp; </a:t>
            </a:r>
            <a:r>
              <a:rPr lang="en-US" b="1" dirty="0" err="1"/>
              <a:t>Navathe</a:t>
            </a:r>
            <a:r>
              <a:rPr lang="en-US" b="1" dirty="0"/>
              <a:t> (2017):</a:t>
            </a:r>
            <a:r>
              <a:rPr lang="en-US" dirty="0"/>
              <a:t> Fundamentals of Database Systems.</a:t>
            </a:r>
          </a:p>
          <a:p>
            <a:pPr marL="0" lvl="1">
              <a:lnSpc>
                <a:spcPct val="170000"/>
              </a:lnSpc>
            </a:pPr>
            <a:r>
              <a:rPr lang="en-US" b="1" dirty="0"/>
              <a:t>Coronel &amp; Morris (2018):</a:t>
            </a:r>
            <a:r>
              <a:rPr lang="en-US" dirty="0"/>
              <a:t> Database Design &amp; Management.</a:t>
            </a:r>
          </a:p>
          <a:p>
            <a:pPr marL="0" lvl="1">
              <a:lnSpc>
                <a:spcPct val="170000"/>
              </a:lnSpc>
            </a:pPr>
            <a:r>
              <a:rPr lang="en-US" b="1" dirty="0"/>
              <a:t>MySQL 8.0 Official Manual:</a:t>
            </a:r>
            <a:r>
              <a:rPr lang="en-US" dirty="0"/>
              <a:t> Oracle Documentatio</a:t>
            </a:r>
            <a:r>
              <a:rPr lang="en-US" sz="3200" dirty="0"/>
              <a:t>n</a:t>
            </a:r>
            <a:r>
              <a:rPr lang="en-US" sz="3200" dirty="0" smtClean="0"/>
              <a:t>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173947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 &amp; Bibliography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70000" lnSpcReduction="20000"/>
          </a:bodyPr>
          <a:lstStyle/>
          <a:p>
            <a:pPr marL="0" lvl="1">
              <a:lnSpc>
                <a:spcPct val="170000"/>
              </a:lnSpc>
            </a:pPr>
            <a:r>
              <a:rPr lang="en-US" sz="3200" b="1" dirty="0" smtClean="0"/>
              <a:t>Benchmarking </a:t>
            </a:r>
            <a:r>
              <a:rPr lang="en-US" sz="3200" b="1" dirty="0"/>
              <a:t>Sources:</a:t>
            </a:r>
            <a:r>
              <a:rPr lang="en-US" sz="3200" dirty="0"/>
              <a:t> Fresha and Squire Salon Platforms.</a:t>
            </a:r>
          </a:p>
          <a:p>
            <a:pPr marL="0">
              <a:lnSpc>
                <a:spcPct val="170000"/>
              </a:lnSpc>
            </a:pPr>
            <a:r>
              <a:rPr lang="en-US" sz="3200" b="1" dirty="0"/>
              <a:t>Final Conclusion:</a:t>
            </a:r>
            <a:r>
              <a:rPr lang="en-US" sz="3200" dirty="0"/>
              <a:t> The system successfully achieves 3rd Normal Form (3NF) to provide an efficient, scalable solution for Salon Staff Management.</a:t>
            </a:r>
          </a:p>
          <a:p>
            <a:pPr marL="0">
              <a:lnSpc>
                <a:spcPct val="170000"/>
              </a:lnSpc>
            </a:pPr>
            <a:r>
              <a:rPr lang="en-US" sz="3200" b="1" dirty="0"/>
              <a:t>Project Repository:</a:t>
            </a:r>
            <a:r>
              <a:rPr lang="en-US" sz="3200" dirty="0"/>
              <a:t> </a:t>
            </a:r>
            <a:r>
              <a:rPr lang="en-US" sz="2200" dirty="0">
                <a:hlinkClick r:id="rId2"/>
              </a:rPr>
              <a:t>[https://github.com/allanmuyombyabcs132/DATABASE-STAFF-MANAGEMENT.git]</a:t>
            </a:r>
            <a:endParaRPr lang="en-US" sz="2200" dirty="0" smtClean="0"/>
          </a:p>
          <a:p>
            <a:pPr marL="0">
              <a:lnSpc>
                <a:spcPct val="170000"/>
              </a:lnSpc>
            </a:pPr>
            <a:r>
              <a:rPr lang="en-US" sz="3200" b="1" dirty="0" smtClean="0"/>
              <a:t>YouTube video link </a:t>
            </a:r>
            <a:r>
              <a:rPr lang="en-US" sz="2300" b="1" dirty="0">
                <a:hlinkClick r:id="rId3"/>
              </a:rPr>
              <a:t>[https://youtu.be/nUxmvzjtOw0?si=CmQoMmASApAKe_VC</a:t>
            </a:r>
            <a:r>
              <a:rPr lang="en-US" sz="3200" b="1" dirty="0">
                <a:hlinkClick r:id="rId3"/>
              </a:rPr>
              <a:t>]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3947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819400"/>
            <a:ext cx="8229600" cy="1143000"/>
          </a:xfrm>
        </p:spPr>
        <p:txBody>
          <a:bodyPr/>
          <a:lstStyle/>
          <a:p>
            <a:r>
              <a:rPr lang="en-US" dirty="0" smtClean="0"/>
              <a:t>Thank you!!!!!!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231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893</TotalTime>
  <Words>180</Words>
  <Application>Microsoft Office PowerPoint</Application>
  <PresentationFormat>On-screen Show (4:3)</PresentationFormat>
  <Paragraphs>85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Office Theme</vt:lpstr>
      <vt:lpstr>Custom Design</vt:lpstr>
      <vt:lpstr>Salon management System </vt:lpstr>
      <vt:lpstr>Application Domain &amp; Business Case </vt:lpstr>
      <vt:lpstr>System Requirements &amp; User Groups </vt:lpstr>
      <vt:lpstr>Analysis of Benefits &amp; Costs </vt:lpstr>
      <vt:lpstr>Logical Design  </vt:lpstr>
      <vt:lpstr>Entity Relationship Diagram (ERD) </vt:lpstr>
      <vt:lpstr>Entity Relationship Diagram (ERD) cont’d</vt:lpstr>
      <vt:lpstr>Entity Relationship Diagram (ERD) cont’d</vt:lpstr>
      <vt:lpstr> Key Relationship &amp; Business Logic</vt:lpstr>
      <vt:lpstr> Implementation (XAMPP &amp; MySQL) Shell</vt:lpstr>
      <vt:lpstr>Implementation cont’d</vt:lpstr>
      <vt:lpstr>Data Tables</vt:lpstr>
      <vt:lpstr> System Queries &amp; Business Intelligence </vt:lpstr>
      <vt:lpstr>Technical Highlights of the Queries</vt:lpstr>
      <vt:lpstr>Comparable System Analysis &amp; Limitations </vt:lpstr>
      <vt:lpstr>Conclusion &amp; Bibliography</vt:lpstr>
      <vt:lpstr>Conclusion &amp; Bibliography</vt:lpstr>
      <vt:lpstr>Thank you!!!!!!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Salon management System Staff module</dc:title>
  <dc:creator>User</dc:creator>
  <cp:lastModifiedBy>User</cp:lastModifiedBy>
  <cp:revision>26</cp:revision>
  <dcterms:created xsi:type="dcterms:W3CDTF">2026-05-05T08:38:04Z</dcterms:created>
  <dcterms:modified xsi:type="dcterms:W3CDTF">2026-05-06T20:58:32Z</dcterms:modified>
</cp:coreProperties>
</file>